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8" r:id="rId1"/>
  </p:sldMasterIdLst>
  <p:notesMasterIdLst>
    <p:notesMasterId r:id="rId16"/>
  </p:notesMasterIdLst>
  <p:sldIdLst>
    <p:sldId id="256" r:id="rId2"/>
    <p:sldId id="257" r:id="rId3"/>
    <p:sldId id="258" r:id="rId4"/>
    <p:sldId id="262" r:id="rId5"/>
    <p:sldId id="261" r:id="rId6"/>
    <p:sldId id="259" r:id="rId7"/>
    <p:sldId id="274" r:id="rId8"/>
    <p:sldId id="260" r:id="rId9"/>
    <p:sldId id="271" r:id="rId10"/>
    <p:sldId id="269" r:id="rId11"/>
    <p:sldId id="270" r:id="rId12"/>
    <p:sldId id="263" r:id="rId13"/>
    <p:sldId id="264" r:id="rId14"/>
    <p:sldId id="27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950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91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C46CFD-4B99-4E95-9C28-BB18D1883FD7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F51805-76F0-4253-81D6-38C5E5E791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2279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0">
                      <a:schemeClr val="tx1"/>
                    </a:gs>
                    <a:gs pos="68000">
                      <a:srgbClr val="F1F1F1"/>
                    </a:gs>
                    <a:gs pos="100000">
                      <a:schemeClr val="bg1">
                        <a:lumMod val="11000"/>
                        <a:lumOff val="89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defRPr>
            </a:lvl1pPr>
          </a:lstStyle>
          <a:p>
            <a:pPr lvl="0" algn="r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</a:lstStyle>
          <a:p>
            <a:pPr marL="0" lvl="0" indent="0" algn="r">
              <a:buNone/>
            </a:pPr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084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485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32000"/>
                        <a:lumOff val="68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623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739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831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084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54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313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50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06535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26038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5444791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36945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44992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3433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6356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175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3CBC1C18-307B-4F68-A007-B5B542270E8D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2077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28600" y="0"/>
            <a:ext cx="11963400" cy="4546600"/>
          </a:xfrm>
        </p:spPr>
        <p:txBody>
          <a:bodyPr anchor="ctr">
            <a:noAutofit/>
          </a:bodyPr>
          <a:lstStyle/>
          <a:p>
            <a:pPr algn="l"/>
            <a:r>
              <a:rPr lang="ru-RU" sz="3600" dirty="0">
                <a:latin typeface="Arial Black" panose="020B0A04020102020204" pitchFamily="34" charset="0"/>
              </a:rPr>
              <a:t>Разработка приложения</a:t>
            </a:r>
            <a:br>
              <a:rPr lang="ru-RU" sz="3600" dirty="0">
                <a:latin typeface="Arial Black" panose="020B0A04020102020204" pitchFamily="34" charset="0"/>
              </a:rPr>
            </a:br>
            <a:r>
              <a:rPr lang="ru-RU" sz="3600" dirty="0">
                <a:latin typeface="Arial Black" panose="020B0A04020102020204" pitchFamily="34" charset="0"/>
              </a:rPr>
              <a:t>для подготовки к тестовым частям</a:t>
            </a:r>
            <a:br>
              <a:rPr lang="ru-RU" sz="3600" dirty="0">
                <a:latin typeface="Arial Black" panose="020B0A04020102020204" pitchFamily="34" charset="0"/>
              </a:rPr>
            </a:br>
            <a:r>
              <a:rPr lang="ru-RU" sz="3600" dirty="0">
                <a:latin typeface="Arial Black" panose="020B0A04020102020204" pitchFamily="34" charset="0"/>
              </a:rPr>
              <a:t>всероссийского конкурса "Безопасное колесо"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683001" y="4940300"/>
            <a:ext cx="8280176" cy="169710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Курсовой проект студентки группы ПР-41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Мезенцевой Полины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Руководитель: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Гариев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Д.О.</a:t>
            </a:r>
          </a:p>
        </p:txBody>
      </p:sp>
    </p:spTree>
    <p:extLst>
      <p:ext uri="{BB962C8B-B14F-4D97-AF65-F5344CB8AC3E}">
        <p14:creationId xmlns:p14="http://schemas.microsoft.com/office/powerpoint/2010/main" val="3186352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54099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Arial Black" panose="020B0A04020102020204" pitchFamily="34" charset="0"/>
              </a:rPr>
              <a:t>Цель проекта</a:t>
            </a:r>
            <a:endParaRPr lang="ru-RU" sz="3200" i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6600" y="1054101"/>
            <a:ext cx="10629900" cy="4940300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Целью проекта является создание программного обеспечения для автоматизации процесса тестирования участников конкурса «Безопасное колесо» и упрощения работы преподавателей с результатами обучения.</a:t>
            </a:r>
          </a:p>
        </p:txBody>
      </p:sp>
    </p:spTree>
    <p:extLst>
      <p:ext uri="{BB962C8B-B14F-4D97-AF65-F5344CB8AC3E}">
        <p14:creationId xmlns:p14="http://schemas.microsoft.com/office/powerpoint/2010/main" val="3439910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685800" y="1054100"/>
            <a:ext cx="10795000" cy="5143500"/>
          </a:xfrm>
        </p:spPr>
        <p:txBody>
          <a:bodyPr anchor="ctr">
            <a:normAutofit/>
          </a:bodyPr>
          <a:lstStyle/>
          <a:p>
            <a:endParaRPr lang="ru-RU" sz="1400" dirty="0"/>
          </a:p>
          <a:p>
            <a:pPr indent="-360000" algn="just">
              <a:buFont typeface="Wingdings" panose="05000000000000000000" pitchFamily="2" charset="2"/>
              <a:buChar char="§"/>
              <a:tabLst>
                <a:tab pos="360000" algn="l"/>
              </a:tabLst>
            </a:pPr>
            <a:r>
              <a:rPr lang="ru-RU" sz="3200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Исследование предметной области</a:t>
            </a:r>
            <a:r>
              <a:rPr lang="en-US" sz="3200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-360000" algn="just">
              <a:buFont typeface="Wingdings" panose="05000000000000000000" pitchFamily="2" charset="2"/>
              <a:buChar char="§"/>
              <a:tabLst>
                <a:tab pos="360000" algn="l"/>
              </a:tabLst>
            </a:pP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Выявление основных ролей и сущностей в рамках предметной области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-360000" algn="just">
              <a:buFont typeface="Wingdings" panose="05000000000000000000" pitchFamily="2" charset="2"/>
              <a:buChar char="§"/>
              <a:tabLst>
                <a:tab pos="360000" algn="l"/>
              </a:tabLst>
            </a:pP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Построение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UML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-диаграмм на основе определенных ранее связей между сущностями.</a:t>
            </a:r>
            <a:endParaRPr lang="ru-RU" sz="1600" dirty="0"/>
          </a:p>
          <a:p>
            <a:endParaRPr lang="ru-RU" sz="1600" dirty="0"/>
          </a:p>
          <a:p>
            <a:endParaRPr lang="ru-RU" sz="1600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F1C7111-ACEF-4ADF-B261-CE7594851D6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0540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>
                <a:latin typeface="Arial Black" panose="020B0A04020102020204" pitchFamily="34" charset="0"/>
                <a:cs typeface="Arial" panose="020B0604020202020204" pitchFamily="34" charset="0"/>
              </a:rPr>
              <a:t>Проектирование концептуальной модели данных</a:t>
            </a:r>
            <a:endParaRPr lang="ru-RU" sz="3200" i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480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74700" y="1054101"/>
            <a:ext cx="10642600" cy="5029200"/>
          </a:xfrm>
        </p:spPr>
        <p:txBody>
          <a:bodyPr anchor="ctr">
            <a:normAutofit/>
          </a:bodyPr>
          <a:lstStyle/>
          <a:p>
            <a:pPr indent="-360000" algn="just">
              <a:buFont typeface="Wingdings" panose="05000000000000000000" pitchFamily="2" charset="2"/>
              <a:buChar char="§"/>
            </a:pP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Преподаватель</a:t>
            </a:r>
          </a:p>
          <a:p>
            <a:pPr indent="-360000" algn="just">
              <a:buFont typeface="Wingdings" panose="05000000000000000000" pitchFamily="2" charset="2"/>
              <a:buChar char="§"/>
            </a:pP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Ученик</a:t>
            </a:r>
          </a:p>
          <a:p>
            <a:pPr indent="-360000" algn="just">
              <a:buFont typeface="Wingdings" panose="05000000000000000000" pitchFamily="2" charset="2"/>
              <a:buChar char="§"/>
            </a:pP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Тест</a:t>
            </a:r>
          </a:p>
          <a:p>
            <a:pPr indent="-360000" algn="just">
              <a:buFont typeface="Wingdings" panose="05000000000000000000" pitchFamily="2" charset="2"/>
              <a:buChar char="§"/>
            </a:pP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Вопрос</a:t>
            </a:r>
          </a:p>
          <a:p>
            <a:pPr indent="-360000" algn="just">
              <a:buFont typeface="Wingdings" panose="05000000000000000000" pitchFamily="2" charset="2"/>
              <a:buChar char="§"/>
            </a:pP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Вариант ответа</a:t>
            </a:r>
          </a:p>
          <a:p>
            <a:pPr indent="-360000" algn="just">
              <a:buFont typeface="Wingdings" panose="05000000000000000000" pitchFamily="2" charset="2"/>
              <a:buChar char="§"/>
            </a:pP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Результат тестирования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4B5C109-66FD-4CCB-BBA4-F3F04BDCDE0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0540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>
                <a:latin typeface="Arial Black" panose="020B0A04020102020204" pitchFamily="34" charset="0"/>
                <a:cs typeface="Arial" panose="020B0604020202020204" pitchFamily="34" charset="0"/>
              </a:rPr>
              <a:t>Список сущностей</a:t>
            </a:r>
            <a:endParaRPr lang="ru-RU" sz="3200" i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83BB0EF-2A79-4976-9675-7C01C1760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5498" y="1436176"/>
            <a:ext cx="4364802" cy="3985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003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A1ECF0D-432B-46D0-AAB9-8BBBB09FB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872" y="833301"/>
            <a:ext cx="5746256" cy="5846900"/>
          </a:xfrm>
          <a:prstGeom prst="rect">
            <a:avLst/>
          </a:prstGeom>
        </p:spPr>
      </p:pic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C7FE800-CD70-4383-B6FD-5B8852CF7AB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0540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latin typeface="Arial Black" panose="020B0A04020102020204" pitchFamily="34" charset="0"/>
                <a:cs typeface="Arial" panose="020B0604020202020204" pitchFamily="34" charset="0"/>
              </a:rPr>
              <a:t>UML-</a:t>
            </a:r>
            <a:r>
              <a:rPr lang="ru-RU" sz="3200" dirty="0">
                <a:latin typeface="Arial Black" panose="020B0A04020102020204" pitchFamily="34" charset="0"/>
                <a:cs typeface="Arial" panose="020B0604020202020204" pitchFamily="34" charset="0"/>
              </a:rPr>
              <a:t>Диаграмма последовательности</a:t>
            </a:r>
            <a:endParaRPr lang="ru-RU" sz="3200" i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931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698500" y="1054100"/>
            <a:ext cx="10731500" cy="5092700"/>
          </a:xfrm>
        </p:spPr>
        <p:txBody>
          <a:bodyPr anchor="ctr">
            <a:normAutofit/>
          </a:bodyPr>
          <a:lstStyle/>
          <a:p>
            <a:pPr marL="97200" indent="-457200" algn="just">
              <a:buFont typeface="Wingdings" panose="05000000000000000000" pitchFamily="2" charset="2"/>
              <a:buChar char="§"/>
            </a:pP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Преобразование сущностей из концептуальных в логические таблицы.</a:t>
            </a:r>
          </a:p>
          <a:p>
            <a:pPr marL="97200" indent="-457200" algn="just">
              <a:buFont typeface="Wingdings" panose="05000000000000000000" pitchFamily="2" charset="2"/>
              <a:buChar char="§"/>
            </a:pP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Определение первичных и внешних ключей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7200" indent="-457200" algn="just">
              <a:buFont typeface="Wingdings" panose="05000000000000000000" pitchFamily="2" charset="2"/>
              <a:buChar char="§"/>
            </a:pP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Определение типов связей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7200" indent="-457200" algn="just">
              <a:buFont typeface="Wingdings" panose="05000000000000000000" pitchFamily="2" charset="2"/>
              <a:buChar char="§"/>
            </a:pP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Построение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ER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-диаграммы базы данных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4B60D19-FD73-40E2-B773-07A4FD3D417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0540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Проектирование логической модели данных</a:t>
            </a:r>
            <a:endParaRPr lang="ru-RU" sz="3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456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6030584B-3B6B-459B-96A7-C75DD95624D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0540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ER-</a:t>
            </a:r>
            <a:r>
              <a:rPr lang="ru-RU" sz="32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Диаграмма</a:t>
            </a:r>
            <a:endParaRPr lang="ru-RU" sz="3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54B23FF-1521-4894-922E-C4687F80A3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34" t="2645" r="1363" b="1925"/>
          <a:stretch/>
        </p:blipFill>
        <p:spPr>
          <a:xfrm>
            <a:off x="1587500" y="1054100"/>
            <a:ext cx="9017000" cy="549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339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749300" y="1054100"/>
            <a:ext cx="10629900" cy="5016500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Выбор СУБД для работы с БД;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Определение физических типов данных и ключей;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Создание таблиц;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Построение итоговой схемы базы данных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D05FF167-7F53-4761-8A85-AF431673090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0540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Проектирование физической модели данных</a:t>
            </a:r>
            <a:endParaRPr lang="ru-RU" sz="3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381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idx="1"/>
          </p:nvPr>
        </p:nvSpPr>
        <p:spPr>
          <a:xfrm>
            <a:off x="0" y="1303836"/>
            <a:ext cx="12192000" cy="1054099"/>
          </a:xfrm>
        </p:spPr>
        <p:txBody>
          <a:bodyPr anchor="ctr">
            <a:no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SQLite 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или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Microsoft SQL Server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2DBFA4F-B64A-4F96-AF54-5B0ADA58D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031" y="3010693"/>
            <a:ext cx="4360853" cy="232946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0D907EE-8527-4550-BFDB-F97BE5FF4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35" y="3010692"/>
            <a:ext cx="3007133" cy="232946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FECAF5AF-39C6-4267-85F4-4BEECA7C0F6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0540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Выбор СУБД</a:t>
            </a:r>
            <a:endParaRPr lang="ru-RU" sz="3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660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321D9C3-B59C-4EAB-9C74-02D44B349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568" y="2595561"/>
            <a:ext cx="2845720" cy="2490005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BD59AF74-5207-4B7C-82C2-E02B2079E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727" y="1402163"/>
            <a:ext cx="4876800" cy="4876800"/>
          </a:xfrm>
          <a:prstGeom prst="rect">
            <a:avLst/>
          </a:prstGeom>
        </p:spPr>
      </p:pic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BB1699B7-AF8B-482F-B657-C144BDB6C75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0540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Инструменты разработки</a:t>
            </a:r>
            <a:endParaRPr lang="ru-RU" sz="3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4723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0422855-21FB-40EE-A700-259658935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200" y="2220821"/>
            <a:ext cx="3172524" cy="334248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3C7BC02-CD85-41A0-AEAC-A3CF8ECFA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8726" y="2220821"/>
            <a:ext cx="5400675" cy="33432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006F11B9-F712-41D8-9B5B-8FA7F059E7A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0540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Инструменты разработки</a:t>
            </a:r>
            <a:endParaRPr lang="ru-RU" sz="3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162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16B4100-B482-49EB-AD9B-4EC940DB3F2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2367" y="838200"/>
            <a:ext cx="7327265" cy="58801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4FCC849D-DCCF-4266-9343-F0323050728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0540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Итоговая схема данных</a:t>
            </a:r>
            <a:endParaRPr lang="ru-RU" sz="3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803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933F5909-760C-4DD7-8095-49DA2618D9C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0540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Алгоритм работы приложения</a:t>
            </a:r>
            <a:endParaRPr lang="ru-RU" sz="3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731C814-6973-4FBF-B6CB-981A98A4C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575" y="825500"/>
            <a:ext cx="5910849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574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41223E5-DA00-46D7-AF35-AA446E549115}"/>
              </a:ext>
            </a:extLst>
          </p:cNvPr>
          <p:cNvSpPr txBox="1"/>
          <p:nvPr/>
        </p:nvSpPr>
        <p:spPr>
          <a:xfrm>
            <a:off x="0" y="393700"/>
            <a:ext cx="1219200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4800" dirty="0">
                <a:solidFill>
                  <a:schemeClr val="tx1"/>
                </a:solidFill>
                <a:latin typeface="Arial Black" panose="020B0A04020102020204" pitchFamily="34" charset="0"/>
                <a:ea typeface="+mn-ea"/>
                <a:cs typeface="+mn-cs"/>
              </a:rPr>
              <a:t>СПАСИБО ЗА ВНИМАНИЕ</a:t>
            </a:r>
            <a:endParaRPr lang="ru-RU" sz="4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993970D-5745-4D18-B2EB-CF71CAEF7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350" y="1403350"/>
            <a:ext cx="4051300" cy="4051300"/>
          </a:xfrm>
          <a:prstGeom prst="rect">
            <a:avLst/>
          </a:prstGeom>
        </p:spPr>
      </p:pic>
      <p:sp>
        <p:nvSpPr>
          <p:cNvPr id="8" name="Текст 4">
            <a:extLst>
              <a:ext uri="{FF2B5EF4-FFF2-40B4-BE49-F238E27FC236}">
                <a16:creationId xmlns:a16="http://schemas.microsoft.com/office/drawing/2014/main" id="{DAD4B556-9EEA-4316-92E2-930211A40884}"/>
              </a:ext>
            </a:extLst>
          </p:cNvPr>
          <p:cNvSpPr txBox="1">
            <a:spLocks/>
          </p:cNvSpPr>
          <p:nvPr/>
        </p:nvSpPr>
        <p:spPr>
          <a:xfrm>
            <a:off x="0" y="5633304"/>
            <a:ext cx="12192000" cy="9833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QR-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Код на репозиторий с исходным кодом</a:t>
            </a:r>
          </a:p>
          <a:p>
            <a:pPr marL="0" indent="0" algn="ctr">
              <a:buNone/>
            </a:pP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и инструкцией по установке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2910459899"/>
      </p:ext>
    </p:extLst>
  </p:cSld>
  <p:clrMapOvr>
    <a:masterClrMapping/>
  </p:clrMapOvr>
</p:sld>
</file>

<file path=ppt/theme/theme1.xml><?xml version="1.0" encoding="utf-8"?>
<a:theme xmlns:a="http://schemas.openxmlformats.org/drawingml/2006/main" name="Глубина">
  <a:themeElements>
    <a:clrScheme name="Синий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Глубина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лубина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3016C5A4-E631-4977-A608-ACFB4755262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Глубина</Template>
  <TotalTime>1313</TotalTime>
  <Words>188</Words>
  <Application>Microsoft Office PowerPoint</Application>
  <PresentationFormat>Широкоэкранный</PresentationFormat>
  <Paragraphs>39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Arial Black</vt:lpstr>
      <vt:lpstr>Calibri</vt:lpstr>
      <vt:lpstr>Corbel</vt:lpstr>
      <vt:lpstr>Wingdings</vt:lpstr>
      <vt:lpstr>Глубина</vt:lpstr>
      <vt:lpstr>Разработка приложения для подготовки к тестовым частям всероссийского конкурса "Безопасное колесо"</vt:lpstr>
      <vt:lpstr>Цель проекта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информационной системы для агрохолдинга «Зеленая долина» </dc:title>
  <dc:creator>322-P</dc:creator>
  <cp:lastModifiedBy>Лина Полярная</cp:lastModifiedBy>
  <cp:revision>57</cp:revision>
  <dcterms:created xsi:type="dcterms:W3CDTF">2025-12-08T06:43:29Z</dcterms:created>
  <dcterms:modified xsi:type="dcterms:W3CDTF">2026-01-27T01:31:00Z</dcterms:modified>
</cp:coreProperties>
</file>